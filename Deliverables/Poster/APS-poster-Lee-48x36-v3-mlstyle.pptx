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43891200" cy="32918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27F600F-D554-4FFB-D196-8CF9E4F94931}" v="1840" dt="2026-10-13T22:03:22.26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9894"/>
    <p:restoredTop sz="94630"/>
  </p:normalViewPr>
  <p:slideViewPr>
    <p:cSldViewPr snapToGrid="0" snapToObjects="1">
      <p:cViewPr>
        <p:scale>
          <a:sx n="36" d="100"/>
          <a:sy n="36" d="100"/>
        </p:scale>
        <p:origin x="-2760" y="-10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microsoft.com/office/2016/11/relationships/changesInfo" Target="changesInfos/changesInfo1.xml"/><Relationship Id="rId8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e, Daniel" userId="S::leedanie2@grinnell.edu::1d163c75-35d4-4a11-b953-385997cc0171" providerId="AD" clId="Web-{B27F600F-D554-4FFB-D196-8CF9E4F94931}"/>
    <pc:docChg chg="modSld">
      <pc:chgData name="Lee, Daniel" userId="S::leedanie2@grinnell.edu::1d163c75-35d4-4a11-b953-385997cc0171" providerId="AD" clId="Web-{B27F600F-D554-4FFB-D196-8CF9E4F94931}" dt="2026-10-13T22:03:09.922" v="877" actId="20577"/>
      <pc:docMkLst>
        <pc:docMk/>
      </pc:docMkLst>
      <pc:sldChg chg="modSp">
        <pc:chgData name="Lee, Daniel" userId="S::leedanie2@grinnell.edu::1d163c75-35d4-4a11-b953-385997cc0171" providerId="AD" clId="Web-{B27F600F-D554-4FFB-D196-8CF9E4F94931}" dt="2026-10-13T22:03:09.922" v="877" actId="20577"/>
        <pc:sldMkLst>
          <pc:docMk/>
          <pc:sldMk cId="0" sldId="256"/>
        </pc:sldMkLst>
        <pc:spChg chg="mod">
          <ac:chgData name="Lee, Daniel" userId="S::leedanie2@grinnell.edu::1d163c75-35d4-4a11-b953-385997cc0171" providerId="AD" clId="Web-{B27F600F-D554-4FFB-D196-8CF9E4F94931}" dt="2026-10-13T21:47:50.350" v="97" actId="20577"/>
          <ac:spMkLst>
            <pc:docMk/>
            <pc:sldMk cId="0" sldId="256"/>
            <ac:spMk id="15" creationId="{00000000-0000-0000-0000-000000000000}"/>
          </ac:spMkLst>
        </pc:spChg>
        <pc:spChg chg="mod">
          <ac:chgData name="Lee, Daniel" userId="S::leedanie2@grinnell.edu::1d163c75-35d4-4a11-b953-385997cc0171" providerId="AD" clId="Web-{B27F600F-D554-4FFB-D196-8CF9E4F94931}" dt="2026-10-13T21:51:22.301" v="253" actId="20577"/>
          <ac:spMkLst>
            <pc:docMk/>
            <pc:sldMk cId="0" sldId="256"/>
            <ac:spMk id="24" creationId="{00000000-0000-0000-0000-000000000000}"/>
          </ac:spMkLst>
        </pc:spChg>
        <pc:spChg chg="mod">
          <ac:chgData name="Lee, Daniel" userId="S::leedanie2@grinnell.edu::1d163c75-35d4-4a11-b953-385997cc0171" providerId="AD" clId="Web-{B27F600F-D554-4FFB-D196-8CF9E4F94931}" dt="2026-10-13T21:51:00.208" v="239" actId="20577"/>
          <ac:spMkLst>
            <pc:docMk/>
            <pc:sldMk cId="0" sldId="256"/>
            <ac:spMk id="32" creationId="{00000000-0000-0000-0000-000000000000}"/>
          </ac:spMkLst>
        </pc:spChg>
        <pc:spChg chg="mod">
          <ac:chgData name="Lee, Daniel" userId="S::leedanie2@grinnell.edu::1d163c75-35d4-4a11-b953-385997cc0171" providerId="AD" clId="Web-{B27F600F-D554-4FFB-D196-8CF9E4F94931}" dt="2026-10-13T21:55:28.643" v="487" actId="20577"/>
          <ac:spMkLst>
            <pc:docMk/>
            <pc:sldMk cId="0" sldId="256"/>
            <ac:spMk id="48" creationId="{00000000-0000-0000-0000-000000000000}"/>
          </ac:spMkLst>
        </pc:spChg>
        <pc:spChg chg="mod">
          <ac:chgData name="Lee, Daniel" userId="S::leedanie2@grinnell.edu::1d163c75-35d4-4a11-b953-385997cc0171" providerId="AD" clId="Web-{B27F600F-D554-4FFB-D196-8CF9E4F94931}" dt="2026-10-13T22:03:09.922" v="877" actId="20577"/>
          <ac:spMkLst>
            <pc:docMk/>
            <pc:sldMk cId="0" sldId="256"/>
            <ac:spMk id="78" creationId="{00000000-0000-0000-0000-000000000000}"/>
          </ac:spMkLst>
        </pc:spChg>
      </pc:sldChg>
    </pc:docChg>
  </pc:docChgLst>
</pc:chgInfo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bar"/>
          <p:cNvSpPr/>
          <p:nvPr/>
        </p:nvSpPr>
        <p:spPr>
          <a:xfrm>
            <a:off x="0" y="0"/>
            <a:ext cx="43891200" cy="512064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Grinnell logo (white)" descr="grinnell_stack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731519"/>
            <a:ext cx="4374179" cy="3657600"/>
          </a:xfrm>
          <a:prstGeom prst="rect">
            <a:avLst/>
          </a:prstGeom>
        </p:spPr>
      </p:pic>
      <p:pic>
        <p:nvPicPr>
          <p:cNvPr id="6" name="LPS logo (white)" descr="lp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16248" y="31495931"/>
            <a:ext cx="3819304" cy="566928"/>
          </a:xfrm>
          <a:prstGeom prst="rect">
            <a:avLst/>
          </a:prstGeom>
        </p:spPr>
      </p:pic>
      <p:pic>
        <p:nvPicPr>
          <p:cNvPr id="7" name="NSA seal" descr="nsa_s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684960" y="731519"/>
            <a:ext cx="3657600" cy="3657600"/>
          </a:xfrm>
          <a:prstGeom prst="rect">
            <a:avLst/>
          </a:prstGeom>
        </p:spPr>
      </p:pic>
      <p:sp>
        <p:nvSpPr>
          <p:cNvPr id="8" name="title"/>
          <p:cNvSpPr txBox="1"/>
          <p:nvPr/>
        </p:nvSpPr>
        <p:spPr>
          <a:xfrm>
            <a:off x="5074920" y="320040"/>
            <a:ext cx="33009840" cy="1325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400" b="1" i="0">
                <a:solidFill>
                  <a:srgbClr val="FFFFFF"/>
                </a:solidFill>
                <a:latin typeface="Times New Roman"/>
              </a:rPr>
              <a:t>Smoothing </a:t>
            </a:r>
            <a:r>
              <a:rPr sz="8400" b="1" i="0">
                <a:solidFill>
                  <a:srgbClr val="FFE3A3"/>
                </a:solidFill>
                <a:latin typeface="Times New Roman"/>
              </a:rPr>
              <a:t>Synchronized Power Swings</a:t>
            </a:r>
            <a:r>
              <a:rPr sz="8400" b="1" i="0">
                <a:solidFill>
                  <a:srgbClr val="FFFFFF"/>
                </a:solidFill>
                <a:latin typeface="Times New Roman"/>
              </a:rPr>
              <a:t> in HPC Clusters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74920" y="1645920"/>
            <a:ext cx="3300984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5400" b="0" i="1">
                <a:solidFill>
                  <a:srgbClr val="FFFFFF"/>
                </a:solidFill>
                <a:latin typeface="Times New Roman"/>
              </a:rPr>
              <a:t>Using Software: Measurement, Prediction, and Grid Simulation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74920" y="2743200"/>
            <a:ext cx="330098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3400" b="0" i="0">
                <a:solidFill>
                  <a:srgbClr val="FFFFFF"/>
                </a:solidFill>
                <a:latin typeface="Times New Roman"/>
              </a:rPr>
              <a:t>Daniel Lee</a:t>
            </a:r>
            <a:r>
              <a:rPr sz="3400" b="0" i="0" baseline="30000">
                <a:solidFill>
                  <a:srgbClr val="FFFFFF"/>
                </a:solidFill>
                <a:latin typeface="Times New Roman"/>
              </a:rPr>
              <a:t>1</a:t>
            </a:r>
            <a:r>
              <a:rPr sz="3400" b="0" i="0">
                <a:solidFill>
                  <a:srgbClr val="FFFFFF"/>
                </a:solidFill>
                <a:latin typeface="Times New Roman"/>
              </a:rPr>
              <a:t>,   Emily Doyle</a:t>
            </a:r>
            <a:r>
              <a:rPr sz="3400" b="0" i="0" baseline="30000">
                <a:solidFill>
                  <a:srgbClr val="FFFFFF"/>
                </a:solidFill>
                <a:latin typeface="Times New Roman"/>
              </a:rPr>
              <a:t>2</a:t>
            </a:r>
            <a:r>
              <a:rPr sz="3400" b="0" i="0">
                <a:solidFill>
                  <a:srgbClr val="FFFFFF"/>
                </a:solidFill>
                <a:latin typeface="Times New Roman"/>
              </a:rPr>
              <a:t>,   Alexander Johnson</a:t>
            </a:r>
            <a:r>
              <a:rPr sz="3400" b="0" i="0" baseline="30000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74920" y="3429000"/>
            <a:ext cx="330098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900" b="1" i="0" baseline="30000">
                <a:solidFill>
                  <a:srgbClr val="FFFFFF"/>
                </a:solidFill>
                <a:latin typeface="Times New Roman"/>
              </a:rPr>
              <a:t>1</a:t>
            </a:r>
            <a:r>
              <a:rPr sz="2900" b="1" i="0">
                <a:solidFill>
                  <a:srgbClr val="FFFFFF"/>
                </a:solidFill>
                <a:latin typeface="Times New Roman"/>
              </a:rPr>
              <a:t>Grinnell College    |    </a:t>
            </a:r>
            <a:r>
              <a:rPr sz="2900" b="1" i="0" baseline="30000">
                <a:solidFill>
                  <a:srgbClr val="FFFFFF"/>
                </a:solidFill>
                <a:latin typeface="Times New Roman"/>
              </a:rPr>
              <a:t>2</a:t>
            </a:r>
            <a:r>
              <a:rPr sz="2900" b="1" i="0">
                <a:solidFill>
                  <a:srgbClr val="FFFFFF"/>
                </a:solidFill>
                <a:latin typeface="Times New Roman"/>
              </a:rPr>
              <a:t>Embry-Riddle Aeronautical University    |    </a:t>
            </a:r>
            <a:r>
              <a:rPr sz="2900" b="1" i="0" baseline="30000">
                <a:solidFill>
                  <a:srgbClr val="FFFFFF"/>
                </a:solidFill>
                <a:latin typeface="Times New Roman"/>
              </a:rPr>
              <a:t>3</a:t>
            </a:r>
            <a:r>
              <a:rPr sz="2900" b="1" i="0">
                <a:solidFill>
                  <a:srgbClr val="FFFFFF"/>
                </a:solidFill>
                <a:latin typeface="Times New Roman"/>
              </a:rPr>
              <a:t>Georgia Institute of Technology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4706600" y="5532120"/>
            <a:ext cx="0" cy="26929080"/>
          </a:xfrm>
          <a:prstGeom prst="line">
            <a:avLst/>
          </a:prstGeom>
          <a:ln w="1905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9184600" y="5532120"/>
            <a:ext cx="0" cy="26929080"/>
          </a:xfrm>
          <a:prstGeom prst="line">
            <a:avLst/>
          </a:prstGeom>
          <a:ln w="1905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section Introduction"/>
          <p:cNvSpPr/>
          <p:nvPr/>
        </p:nvSpPr>
        <p:spPr>
          <a:xfrm>
            <a:off x="457200" y="5532120"/>
            <a:ext cx="14020800" cy="77724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4600" b="1" spc="300">
                <a:solidFill>
                  <a:srgbClr val="FFFFFF"/>
                </a:solidFill>
                <a:latin typeface="Times New Roman"/>
              </a:rPr>
              <a:t>INTRODUCTION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510527"/>
            <a:ext cx="14020800" cy="8617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800" b="1" i="0" dirty="0">
                <a:solidFill>
                  <a:srgbClr val="C8102E"/>
                </a:solidFill>
                <a:latin typeface="Times New Roman"/>
              </a:rPr>
              <a:t>Bulk-synchronous AI training: </a:t>
            </a:r>
            <a:r>
              <a:rPr lang="en-US" sz="2800" dirty="0">
                <a:solidFill>
                  <a:srgbClr val="2D2D2D"/>
                </a:solidFill>
                <a:latin typeface="Times New Roman"/>
              </a:rPr>
              <a:t>nodes</a:t>
            </a:r>
            <a:r>
              <a:rPr sz="2800" b="0" i="0" dirty="0">
                <a:solidFill>
                  <a:srgbClr val="2D2D2D"/>
                </a:solidFill>
                <a:latin typeface="Times New Roman"/>
              </a:rPr>
              <a:t> </a:t>
            </a:r>
            <a:r>
              <a:rPr lang="en-US" sz="2800" dirty="0">
                <a:solidFill>
                  <a:srgbClr val="2D2D2D"/>
                </a:solidFill>
                <a:latin typeface="Times New Roman"/>
              </a:rPr>
              <a:t>compute</a:t>
            </a:r>
            <a:r>
              <a:rPr sz="2800" b="0" i="0" dirty="0">
                <a:solidFill>
                  <a:srgbClr val="2D2D2D"/>
                </a:solidFill>
                <a:latin typeface="Times New Roman"/>
              </a:rPr>
              <a:t>, </a:t>
            </a:r>
            <a:r>
              <a:rPr lang="en-US" sz="2800" dirty="0">
                <a:solidFill>
                  <a:srgbClr val="2D2D2D"/>
                </a:solidFill>
                <a:latin typeface="Times New Roman"/>
              </a:rPr>
              <a:t>then communicate </a:t>
            </a:r>
            <a:r>
              <a:rPr sz="2800" b="0" i="0" dirty="0">
                <a:solidFill>
                  <a:srgbClr val="2D2D2D"/>
                </a:solidFill>
                <a:latin typeface="Times New Roman"/>
              </a:rPr>
              <a:t>gradients</a:t>
            </a:r>
            <a:r>
              <a:rPr lang="en-US" sz="2800" dirty="0">
                <a:solidFill>
                  <a:srgbClr val="2D2D2D"/>
                </a:solidFill>
                <a:latin typeface="Times New Roman"/>
              </a:rPr>
              <a:t> to adjust weights.</a:t>
            </a:r>
            <a:r>
              <a:rPr sz="2800" b="0" i="0" dirty="0">
                <a:solidFill>
                  <a:srgbClr val="2D2D2D"/>
                </a:solidFill>
                <a:latin typeface="Times New Roman"/>
              </a:rPr>
              <a:t> Thousands of servers</a:t>
            </a:r>
            <a:r>
              <a:rPr lang="en-US" sz="2800" dirty="0">
                <a:solidFill>
                  <a:srgbClr val="2D2D2D"/>
                </a:solidFill>
                <a:latin typeface="Times New Roman"/>
              </a:rPr>
              <a:t> run in lockst</a:t>
            </a:r>
            <a:r>
              <a:rPr lang="en-US" sz="2800">
                <a:solidFill>
                  <a:srgbClr val="2D2D2D"/>
                </a:solidFill>
                <a:latin typeface="Times New Roman"/>
              </a:rPr>
              <a:t>ep, leading to huge power swings. </a:t>
            </a:r>
            <a:endParaRPr sz="2800" b="0" i="0" dirty="0">
              <a:solidFill>
                <a:srgbClr val="2D2D2D"/>
              </a:solidFill>
              <a:latin typeface="Times New Roman"/>
            </a:endParaRPr>
          </a:p>
        </p:txBody>
      </p:sp>
      <p:pic>
        <p:nvPicPr>
          <p:cNvPr id="16" name="Picture 15" descr="A_cohere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0428" y="8037575"/>
            <a:ext cx="12814343" cy="603027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57200" y="14269023"/>
            <a:ext cx="14020800" cy="3657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0" i="1">
                <a:solidFill>
                  <a:srgbClr val="6B7280"/>
                </a:solidFill>
                <a:latin typeface="Times New Roman"/>
              </a:rPr>
              <a:t>One measured server trace copied 10,000 times: random phases cancel to a √N ripple; in-phase copies swing 100× harder.</a:t>
            </a:r>
          </a:p>
        </p:txBody>
      </p:sp>
      <p:sp>
        <p:nvSpPr>
          <p:cNvPr id="18" name="section Methods"/>
          <p:cNvSpPr/>
          <p:nvPr/>
        </p:nvSpPr>
        <p:spPr>
          <a:xfrm>
            <a:off x="457200" y="15046263"/>
            <a:ext cx="14020800" cy="77724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4600" b="1" spc="300">
                <a:solidFill>
                  <a:srgbClr val="FFFFFF"/>
                </a:solidFill>
                <a:latin typeface="Times New Roman"/>
              </a:rPr>
              <a:t>METHODS</a:t>
            </a:r>
          </a:p>
        </p:txBody>
      </p:sp>
      <p:sp>
        <p:nvSpPr>
          <p:cNvPr id="19" name="sub M1"/>
          <p:cNvSpPr/>
          <p:nvPr/>
        </p:nvSpPr>
        <p:spPr>
          <a:xfrm>
            <a:off x="457200" y="16024671"/>
            <a:ext cx="14020800" cy="603504"/>
          </a:xfrm>
          <a:prstGeom prst="rect">
            <a:avLst/>
          </a:prstGeom>
          <a:solidFill>
            <a:srgbClr val="F8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0" bIns="0" rtlCol="0" anchor="ctr"/>
          <a:lstStyle/>
          <a:p>
            <a:pPr algn="l"/>
            <a:r>
              <a:rPr sz="3600" b="1">
                <a:solidFill>
                  <a:srgbClr val="C8102E"/>
                </a:solidFill>
                <a:latin typeface="Times New Roman"/>
              </a:rPr>
              <a:t>M1  </a:t>
            </a:r>
            <a:r>
              <a:rPr sz="3600" b="1">
                <a:solidFill>
                  <a:srgbClr val="2D2D2D"/>
                </a:solidFill>
                <a:latin typeface="Times New Roman"/>
              </a:rPr>
              <a:t>A live power monitor for one server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16829343"/>
            <a:ext cx="5394960" cy="51206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rtlCol="0" anchor="ctr"/>
          <a:lstStyle/>
          <a:p>
            <a:pPr algn="ctr"/>
            <a:r>
              <a:rPr sz="2200" b="1">
                <a:solidFill>
                  <a:srgbClr val="2D2D2D"/>
                </a:solidFill>
                <a:latin typeface="Times New Roman"/>
              </a:rPr>
              <a:t>RAPL CPU power  </a:t>
            </a:r>
            <a:r>
              <a:rPr sz="1800">
                <a:solidFill>
                  <a:srgbClr val="6B7280"/>
                </a:solidFill>
                <a:latin typeface="Times New Roman"/>
              </a:rPr>
              <a:t>10 Hz, C sampler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17414559"/>
            <a:ext cx="5394960" cy="51206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rtlCol="0" anchor="ctr"/>
          <a:lstStyle/>
          <a:p>
            <a:pPr algn="ctr"/>
            <a:r>
              <a:rPr sz="2200" b="1">
                <a:solidFill>
                  <a:srgbClr val="2D2D2D"/>
                </a:solidFill>
                <a:latin typeface="Times New Roman"/>
              </a:rPr>
              <a:t>Linux /proc  </a:t>
            </a:r>
            <a:r>
              <a:rPr sz="1800">
                <a:solidFill>
                  <a:srgbClr val="6B7280"/>
                </a:solidFill>
                <a:latin typeface="Times New Roman"/>
              </a:rPr>
              <a:t>1 Hz: run queue, I/O, ctx switches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17999775"/>
            <a:ext cx="5394960" cy="51206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rtlCol="0" anchor="ctr"/>
          <a:lstStyle/>
          <a:p>
            <a:pPr algn="ctr"/>
            <a:r>
              <a:rPr sz="2200" b="1">
                <a:solidFill>
                  <a:srgbClr val="2D2D2D"/>
                </a:solidFill>
                <a:latin typeface="Times New Roman"/>
              </a:rPr>
              <a:t>Redfish BMC  </a:t>
            </a:r>
            <a:r>
              <a:rPr sz="1800">
                <a:solidFill>
                  <a:srgbClr val="6B7280"/>
                </a:solidFill>
                <a:latin typeface="Times New Roman"/>
              </a:rPr>
              <a:t>every 10 s: 69 fields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18584991"/>
            <a:ext cx="5394960" cy="51206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rtlCol="0" anchor="ctr"/>
          <a:lstStyle/>
          <a:p>
            <a:pPr algn="ctr"/>
            <a:r>
              <a:rPr sz="2200" b="1">
                <a:solidFill>
                  <a:srgbClr val="2D2D2D"/>
                </a:solidFill>
                <a:latin typeface="Times New Roman"/>
              </a:rPr>
              <a:t>Rack PDU  </a:t>
            </a:r>
            <a:r>
              <a:rPr sz="1800">
                <a:solidFill>
                  <a:srgbClr val="6B7280"/>
                </a:solidFill>
                <a:latin typeface="Times New Roman"/>
              </a:rPr>
              <a:t>~1.8 Hz: real power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766560" y="17277399"/>
            <a:ext cx="329184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2400" b="1" dirty="0" err="1">
                <a:solidFill>
                  <a:srgbClr val="2D2D2D"/>
                </a:solidFill>
                <a:latin typeface="Times New Roman"/>
              </a:rPr>
              <a:t>InfluxDB</a:t>
            </a:r>
            <a:endParaRPr lang="en-US" sz="2400" b="1" dirty="0" err="1">
              <a:solidFill>
                <a:srgbClr val="2D2D2D"/>
              </a:solidFill>
              <a:latin typeface="Times New Roman"/>
              <a:ea typeface="Calibri"/>
              <a:cs typeface="Calibri"/>
            </a:endParaRPr>
          </a:p>
          <a:p>
            <a:pPr algn="ctr"/>
            <a:r>
              <a:rPr lang="en-US" sz="1900">
                <a:solidFill>
                  <a:srgbClr val="6B7280"/>
                </a:solidFill>
                <a:latin typeface="Times New Roman"/>
              </a:rPr>
              <a:t>Data s</a:t>
            </a:r>
            <a:r>
              <a:rPr lang="en-US" sz="1900" dirty="0">
                <a:solidFill>
                  <a:srgbClr val="6B7280"/>
                </a:solidFill>
                <a:latin typeface="Times New Roman"/>
              </a:rPr>
              <a:t>torage</a:t>
            </a:r>
            <a:endParaRPr sz="1900">
              <a:solidFill>
                <a:srgbClr val="6B7280"/>
              </a:solidFill>
              <a:latin typeface="Times New Roman"/>
            </a:endParaRPr>
          </a:p>
        </p:txBody>
      </p:sp>
      <p:cxnSp>
        <p:nvCxnSpPr>
          <p:cNvPr id="25" name="Connector 24"/>
          <p:cNvCxnSpPr/>
          <p:nvPr/>
        </p:nvCxnSpPr>
        <p:spPr>
          <a:xfrm>
            <a:off x="5897880" y="17085375"/>
            <a:ext cx="822960" cy="534924"/>
          </a:xfrm>
          <a:prstGeom prst="line">
            <a:avLst/>
          </a:prstGeom>
          <a:ln w="28575">
            <a:solidFill>
              <a:srgbClr val="6B72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897880" y="17670591"/>
            <a:ext cx="822960" cy="178308"/>
          </a:xfrm>
          <a:prstGeom prst="line">
            <a:avLst/>
          </a:prstGeom>
          <a:ln w="28575">
            <a:solidFill>
              <a:srgbClr val="6B72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5897880" y="18077499"/>
            <a:ext cx="822960" cy="178308"/>
          </a:xfrm>
          <a:prstGeom prst="line">
            <a:avLst/>
          </a:prstGeom>
          <a:ln w="28575">
            <a:solidFill>
              <a:srgbClr val="6B72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5897880" y="18306099"/>
            <a:ext cx="822960" cy="534924"/>
          </a:xfrm>
          <a:prstGeom prst="line">
            <a:avLst/>
          </a:prstGeom>
          <a:ln w="28575">
            <a:solidFill>
              <a:srgbClr val="6B72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10744200" y="17277399"/>
            <a:ext cx="3733800" cy="1371600"/>
          </a:xfrm>
          <a:prstGeom prst="roundRect">
            <a:avLst/>
          </a:prstGeom>
          <a:solidFill>
            <a:srgbClr val="F8E7EA"/>
          </a:solidFill>
          <a:ln w="2540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2400" b="1">
                <a:solidFill>
                  <a:srgbClr val="2D2D2D"/>
                </a:solidFill>
                <a:latin typeface="Times New Roman"/>
              </a:rPr>
              <a:t>Grafana</a:t>
            </a:r>
          </a:p>
          <a:p>
            <a:pPr algn="ctr"/>
            <a:r>
              <a:rPr sz="1900">
                <a:solidFill>
                  <a:srgbClr val="6B7280"/>
                </a:solidFill>
                <a:latin typeface="Times New Roman"/>
              </a:rPr>
              <a:t>live dashboards, 5 s refresh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10104120" y="17963199"/>
            <a:ext cx="594360" cy="0"/>
          </a:xfrm>
          <a:prstGeom prst="line">
            <a:avLst/>
          </a:prstGeom>
          <a:ln w="38100">
            <a:solidFill>
              <a:srgbClr val="6B72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1" name="Picture 30" descr="G_dashboar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0428" y="19298223"/>
            <a:ext cx="12814343" cy="4040318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457200" y="23539709"/>
            <a:ext cx="14020800" cy="27905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2800" b="1" i="0" dirty="0">
                <a:solidFill>
                  <a:srgbClr val="C8102E"/>
                </a:solidFill>
                <a:latin typeface="Times New Roman"/>
              </a:rPr>
              <a:t>Live: </a:t>
            </a:r>
            <a:r>
              <a:rPr sz="2800" b="0" i="0" dirty="0">
                <a:solidFill>
                  <a:srgbClr val="2D2D2D"/>
                </a:solidFill>
                <a:latin typeface="Times New Roman"/>
              </a:rPr>
              <a:t>three independent power</a:t>
            </a:r>
            <a:r>
              <a:rPr lang="en-US" sz="2800" dirty="0">
                <a:solidFill>
                  <a:srgbClr val="2D2D2D"/>
                </a:solidFill>
                <a:latin typeface="Times New Roman"/>
              </a:rPr>
              <a:t> telemetry monitors</a:t>
            </a:r>
            <a:r>
              <a:rPr sz="2800" b="0" i="0" dirty="0">
                <a:solidFill>
                  <a:srgbClr val="2D2D2D"/>
                </a:solidFill>
                <a:latin typeface="Times New Roman"/>
              </a:rPr>
              <a:t> and CPU utilization on one Grafana </a:t>
            </a:r>
            <a:r>
              <a:rPr lang="en-US" sz="2800">
                <a:solidFill>
                  <a:srgbClr val="2D2D2D"/>
                </a:solidFill>
                <a:latin typeface="Times New Roman"/>
              </a:rPr>
              <a:t>dashboard. Whole team can see server activity in real time.</a:t>
            </a:r>
            <a:endParaRPr lang="en-US" sz="2800" b="0" i="0" dirty="0">
              <a:solidFill>
                <a:srgbClr val="2D2D2D"/>
              </a:solidFill>
              <a:latin typeface="Times New Roman"/>
              <a:ea typeface="Calibri"/>
              <a:cs typeface="Calibri"/>
            </a:endParaRPr>
          </a:p>
          <a:p>
            <a:pPr>
              <a:spcAft>
                <a:spcPts val="800"/>
              </a:spcAft>
            </a:pPr>
            <a:r>
              <a:rPr lang="en-US" sz="2800" b="1" dirty="0">
                <a:solidFill>
                  <a:srgbClr val="C8102E"/>
                </a:solidFill>
                <a:latin typeface="Times New Roman"/>
              </a:rPr>
              <a:t>Cost of Running</a:t>
            </a:r>
            <a:r>
              <a:rPr sz="2800" b="1" i="0" dirty="0">
                <a:solidFill>
                  <a:srgbClr val="C8102E"/>
                </a:solidFill>
                <a:latin typeface="Times New Roman"/>
              </a:rPr>
              <a:t>: </a:t>
            </a:r>
            <a:r>
              <a:rPr sz="2800" b="0" i="0">
                <a:solidFill>
                  <a:srgbClr val="2D2D2D"/>
                </a:solidFill>
                <a:latin typeface="Times New Roman"/>
              </a:rPr>
              <a:t>2.19% of one core (0.017% of the server); </a:t>
            </a:r>
            <a:r>
              <a:rPr lang="en-US" sz="2800">
                <a:solidFill>
                  <a:srgbClr val="2D2D2D"/>
                </a:solidFill>
                <a:latin typeface="Times New Roman"/>
              </a:rPr>
              <a:t>Running sampling code as a daemon is </a:t>
            </a:r>
            <a:r>
              <a:rPr sz="2800" b="0" i="0">
                <a:solidFill>
                  <a:srgbClr val="2D2D2D"/>
                </a:solidFill>
                <a:latin typeface="Times New Roman"/>
              </a:rPr>
              <a:t>+0.15 W. </a:t>
            </a:r>
            <a:endParaRPr sz="2800" b="0" i="0">
              <a:solidFill>
                <a:srgbClr val="2D2D2D"/>
              </a:solidFill>
              <a:latin typeface="Times New Roman"/>
              <a:ea typeface="Calibri"/>
              <a:cs typeface="Calibri"/>
            </a:endParaRPr>
          </a:p>
          <a:p>
            <a:r>
              <a:rPr sz="2800" b="1" i="0" dirty="0">
                <a:solidFill>
                  <a:srgbClr val="C8102E"/>
                </a:solidFill>
                <a:latin typeface="Times New Roman"/>
              </a:rPr>
              <a:t>Correct by construction: </a:t>
            </a:r>
            <a:r>
              <a:rPr sz="2800" b="0" i="0" dirty="0">
                <a:solidFill>
                  <a:srgbClr val="2D2D2D"/>
                </a:solidFill>
                <a:latin typeface="Times New Roman"/>
              </a:rPr>
              <a:t>power is reported only when the RAPL counter advances, removing the kilowatt “spikes” </a:t>
            </a:r>
            <a:r>
              <a:rPr lang="en-US" sz="2800">
                <a:solidFill>
                  <a:srgbClr val="2D2D2D"/>
                </a:solidFill>
                <a:latin typeface="Times New Roman"/>
              </a:rPr>
              <a:t>when polling the hardware too fast.</a:t>
            </a:r>
            <a:endParaRPr sz="2800" b="0" i="0">
              <a:solidFill>
                <a:srgbClr val="2D2D2D"/>
              </a:solidFill>
              <a:latin typeface="Times New Roman"/>
            </a:endParaRPr>
          </a:p>
        </p:txBody>
      </p:sp>
      <p:sp>
        <p:nvSpPr>
          <p:cNvPr id="33" name="sub M2"/>
          <p:cNvSpPr/>
          <p:nvPr/>
        </p:nvSpPr>
        <p:spPr>
          <a:xfrm>
            <a:off x="457200" y="26760429"/>
            <a:ext cx="14020800" cy="603504"/>
          </a:xfrm>
          <a:prstGeom prst="rect">
            <a:avLst/>
          </a:prstGeom>
          <a:solidFill>
            <a:srgbClr val="F8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0" bIns="0" rtlCol="0" anchor="ctr"/>
          <a:lstStyle/>
          <a:p>
            <a:pPr algn="l"/>
            <a:r>
              <a:rPr sz="3600" b="1">
                <a:solidFill>
                  <a:srgbClr val="C8102E"/>
                </a:solidFill>
                <a:latin typeface="Times New Roman"/>
              </a:rPr>
              <a:t>M2  </a:t>
            </a:r>
            <a:r>
              <a:rPr sz="3600" b="1">
                <a:solidFill>
                  <a:srgbClr val="2D2D2D"/>
                </a:solidFill>
                <a:latin typeface="Times New Roman"/>
              </a:rPr>
              <a:t>Three software mechanisms for smoothing power</a:t>
            </a:r>
          </a:p>
        </p:txBody>
      </p:sp>
      <p:pic>
        <p:nvPicPr>
          <p:cNvPr id="34" name="Picture 33" descr="B_mechanism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0428" y="27565101"/>
            <a:ext cx="12814343" cy="432917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457200" y="32095439"/>
            <a:ext cx="14020800" cy="3657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0" i="1">
                <a:solidFill>
                  <a:srgbClr val="6B7280"/>
                </a:solidFill>
                <a:latin typeface="Times New Roman"/>
              </a:rPr>
              <a:t>Experiment: 3 workloads (HPL, AI inference, step) × 4 conditions × 4 repeats = 48 traces on a quiesced dual Xeon Gold 6338.</a:t>
            </a:r>
          </a:p>
        </p:txBody>
      </p:sp>
      <p:sp>
        <p:nvSpPr>
          <p:cNvPr id="36" name="sub M3"/>
          <p:cNvSpPr/>
          <p:nvPr/>
        </p:nvSpPr>
        <p:spPr>
          <a:xfrm>
            <a:off x="14935200" y="5532120"/>
            <a:ext cx="14020800" cy="603504"/>
          </a:xfrm>
          <a:prstGeom prst="rect">
            <a:avLst/>
          </a:prstGeom>
          <a:solidFill>
            <a:srgbClr val="F8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0" bIns="0" rtlCol="0" anchor="ctr"/>
          <a:lstStyle/>
          <a:p>
            <a:pPr algn="l"/>
            <a:r>
              <a:rPr sz="3600" b="1">
                <a:solidFill>
                  <a:srgbClr val="C8102E"/>
                </a:solidFill>
                <a:latin typeface="Times New Roman"/>
              </a:rPr>
              <a:t>M3  </a:t>
            </a:r>
            <a:r>
              <a:rPr sz="3600" b="1">
                <a:solidFill>
                  <a:srgbClr val="2D2D2D"/>
                </a:solidFill>
                <a:latin typeface="Times New Roman"/>
              </a:rPr>
              <a:t>Grid model and evaluation criteria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4935200" y="6336792"/>
            <a:ext cx="2331720" cy="1463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2500" b="1">
                <a:solidFill>
                  <a:srgbClr val="2D2D2D"/>
                </a:solidFill>
                <a:latin typeface="Times New Roman"/>
              </a:rPr>
              <a:t>1 server</a:t>
            </a:r>
          </a:p>
          <a:p>
            <a:pPr algn="ctr"/>
            <a:r>
              <a:rPr sz="1900">
                <a:solidFill>
                  <a:srgbClr val="6B7280"/>
                </a:solidFill>
                <a:latin typeface="Times New Roman"/>
              </a:rPr>
              <a:t>RAPL trace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17312640" y="7068312"/>
            <a:ext cx="499110" cy="0"/>
          </a:xfrm>
          <a:prstGeom prst="line">
            <a:avLst/>
          </a:prstGeom>
          <a:ln w="38100">
            <a:solidFill>
              <a:srgbClr val="6B72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17857470" y="6336792"/>
            <a:ext cx="2331720" cy="1463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2500" b="1">
                <a:solidFill>
                  <a:srgbClr val="2D2D2D"/>
                </a:solidFill>
                <a:latin typeface="Times New Roman"/>
              </a:rPr>
              <a:t>× 10,000</a:t>
            </a:r>
          </a:p>
          <a:p>
            <a:pPr algn="ctr"/>
            <a:r>
              <a:rPr sz="1900">
                <a:solidFill>
                  <a:srgbClr val="6B7280"/>
                </a:solidFill>
                <a:latin typeface="Times New Roman"/>
              </a:rPr>
              <a:t>in phase, +PUE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20234910" y="7068312"/>
            <a:ext cx="499110" cy="0"/>
          </a:xfrm>
          <a:prstGeom prst="line">
            <a:avLst/>
          </a:prstGeom>
          <a:ln w="38100">
            <a:solidFill>
              <a:srgbClr val="6B72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20779740" y="6336792"/>
            <a:ext cx="2331720" cy="1463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2500" b="1">
                <a:solidFill>
                  <a:srgbClr val="2D2D2D"/>
                </a:solidFill>
                <a:latin typeface="Times New Roman"/>
              </a:rPr>
              <a:t>UPS</a:t>
            </a:r>
          </a:p>
          <a:p>
            <a:pPr algn="ctr"/>
            <a:r>
              <a:rPr sz="1900">
                <a:solidFill>
                  <a:srgbClr val="6B7280"/>
                </a:solidFill>
                <a:latin typeface="Times New Roman"/>
              </a:rPr>
              <a:t>15 s low-pass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23157180" y="7068312"/>
            <a:ext cx="499110" cy="0"/>
          </a:xfrm>
          <a:prstGeom prst="line">
            <a:avLst/>
          </a:prstGeom>
          <a:ln w="38100">
            <a:solidFill>
              <a:srgbClr val="6B72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23702010" y="6336792"/>
            <a:ext cx="2331720" cy="1463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2500" b="1">
                <a:solidFill>
                  <a:srgbClr val="2D2D2D"/>
                </a:solidFill>
                <a:latin typeface="Times New Roman"/>
              </a:rPr>
              <a:t>Phasor grid</a:t>
            </a:r>
          </a:p>
          <a:p>
            <a:pPr algn="ctr"/>
            <a:r>
              <a:rPr sz="1900">
                <a:solidFill>
                  <a:srgbClr val="6B7280"/>
                </a:solidFill>
                <a:latin typeface="Times New Roman"/>
              </a:rPr>
              <a:t>50 MW, H = 2.5 s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26079450" y="7068312"/>
            <a:ext cx="499110" cy="0"/>
          </a:xfrm>
          <a:prstGeom prst="line">
            <a:avLst/>
          </a:prstGeom>
          <a:ln w="38100">
            <a:solidFill>
              <a:srgbClr val="6B72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26624280" y="6336792"/>
            <a:ext cx="2331720" cy="1463040"/>
          </a:xfrm>
          <a:prstGeom prst="roundRect">
            <a:avLst/>
          </a:prstGeom>
          <a:solidFill>
            <a:srgbClr val="F8E7EA"/>
          </a:solidFill>
          <a:ln w="2540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2500" b="1">
                <a:solidFill>
                  <a:srgbClr val="2D2D2D"/>
                </a:solidFill>
                <a:latin typeface="Times New Roman"/>
              </a:rPr>
              <a:t>Scorecard</a:t>
            </a:r>
          </a:p>
          <a:p>
            <a:pPr algn="ctr"/>
            <a:r>
              <a:rPr sz="1900">
                <a:solidFill>
                  <a:srgbClr val="6B7280"/>
                </a:solidFill>
                <a:latin typeface="Times New Roman"/>
              </a:rPr>
              <a:t>metrics below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4935200" y="8001000"/>
            <a:ext cx="14020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3800" b="0" i="1">
                <a:solidFill>
                  <a:srgbClr val="2D2D2D"/>
                </a:solidFill>
                <a:latin typeface="Times New Roman"/>
              </a:rPr>
              <a:t>2H</a:t>
            </a:r>
            <a:r>
              <a:rPr sz="3800" b="0" i="0">
                <a:solidFill>
                  <a:srgbClr val="2D2D2D"/>
                </a:solidFill>
                <a:latin typeface="Times New Roman"/>
              </a:rPr>
              <a:t>/ω</a:t>
            </a:r>
            <a:r>
              <a:rPr sz="3800" b="0" i="0" baseline="-25000">
                <a:solidFill>
                  <a:srgbClr val="2D2D2D"/>
                </a:solidFill>
                <a:latin typeface="Times New Roman"/>
              </a:rPr>
              <a:t>0</a:t>
            </a:r>
            <a:r>
              <a:rPr sz="3800" b="0" i="0">
                <a:solidFill>
                  <a:srgbClr val="2D2D2D"/>
                </a:solidFill>
                <a:latin typeface="Times New Roman"/>
              </a:rPr>
              <a:t> · dΔω/dt  =  </a:t>
            </a:r>
            <a:r>
              <a:rPr sz="3800" b="0" i="1">
                <a:solidFill>
                  <a:srgbClr val="2D2D2D"/>
                </a:solidFill>
                <a:latin typeface="Times New Roman"/>
              </a:rPr>
              <a:t>P</a:t>
            </a:r>
            <a:r>
              <a:rPr sz="3800" b="0" i="0" baseline="-25000">
                <a:solidFill>
                  <a:srgbClr val="2D2D2D"/>
                </a:solidFill>
                <a:latin typeface="Times New Roman"/>
              </a:rPr>
              <a:t>m</a:t>
            </a:r>
            <a:r>
              <a:rPr sz="3800" b="0" i="0">
                <a:solidFill>
                  <a:srgbClr val="2D2D2D"/>
                </a:solidFill>
                <a:latin typeface="Times New Roman"/>
              </a:rPr>
              <a:t>  −  </a:t>
            </a:r>
            <a:r>
              <a:rPr sz="3800" b="0" i="1">
                <a:solidFill>
                  <a:srgbClr val="2D2D2D"/>
                </a:solidFill>
                <a:latin typeface="Times New Roman"/>
              </a:rPr>
              <a:t>P</a:t>
            </a:r>
            <a:r>
              <a:rPr sz="3800" b="0" i="0" baseline="-25000">
                <a:solidFill>
                  <a:srgbClr val="2D2D2D"/>
                </a:solidFill>
                <a:latin typeface="Times New Roman"/>
              </a:rPr>
              <a:t>e</a:t>
            </a:r>
            <a:r>
              <a:rPr sz="3800" b="0" i="0">
                <a:solidFill>
                  <a:srgbClr val="2D2D2D"/>
                </a:solidFill>
                <a:latin typeface="Times New Roman"/>
              </a:rPr>
              <a:t>  −  </a:t>
            </a:r>
            <a:r>
              <a:rPr sz="3800" b="0" i="1">
                <a:solidFill>
                  <a:srgbClr val="2D2D2D"/>
                </a:solidFill>
                <a:latin typeface="Times New Roman"/>
              </a:rPr>
              <a:t>D</a:t>
            </a:r>
            <a:r>
              <a:rPr sz="3800" b="0" i="0">
                <a:solidFill>
                  <a:srgbClr val="2D2D2D"/>
                </a:solidFill>
                <a:latin typeface="Times New Roman"/>
              </a:rPr>
              <a:t>Δω</a:t>
            </a:r>
            <a:r>
              <a:rPr sz="2200" b="0" i="1">
                <a:solidFill>
                  <a:srgbClr val="6B7280"/>
                </a:solidFill>
                <a:latin typeface="Times New Roman"/>
              </a:rPr>
              <a:t>      (swing equation)</a:t>
            </a:r>
          </a:p>
        </p:txBody>
      </p:sp>
      <p:graphicFrame>
        <p:nvGraphicFramePr>
          <p:cNvPr id="47" name="Table 46"/>
          <p:cNvGraphicFramePr>
            <a:graphicFrameLocks noGrp="1"/>
          </p:cNvGraphicFramePr>
          <p:nvPr/>
        </p:nvGraphicFramePr>
        <p:xfrm>
          <a:off x="14935200" y="8933688"/>
          <a:ext cx="14020798" cy="3136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231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745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231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8056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2D2D2D"/>
                          </a:solidFill>
                          <a:latin typeface="Times New Roman"/>
                        </a:rPr>
                        <a:t>Metric</a:t>
                      </a:r>
                    </a:p>
                  </a:txBody>
                  <a:tcPr marL="109728" marR="109728" marT="54864" marB="54864" anchor="ctr">
                    <a:solidFill>
                      <a:srgbClr val="F8E7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2D2D2D"/>
                          </a:solidFill>
                          <a:latin typeface="Times New Roman"/>
                        </a:rPr>
                        <a:t>What it captures</a:t>
                      </a:r>
                    </a:p>
                  </a:txBody>
                  <a:tcPr marL="109728" marR="109728" marT="54864" marB="54864" anchor="ctr">
                    <a:solidFill>
                      <a:srgbClr val="F8E7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2D2D2D"/>
                          </a:solidFill>
                          <a:latin typeface="Times New Roman"/>
                        </a:rPr>
                        <a:t>Limit / standard</a:t>
                      </a:r>
                    </a:p>
                  </a:txBody>
                  <a:tcPr marL="109728" marR="109728" marT="54864" marB="54864" anchor="ctr">
                    <a:solidFill>
                      <a:srgbClr val="F8E7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2D2D2D"/>
                          </a:solidFill>
                          <a:latin typeface="Times New Roman"/>
                        </a:rPr>
                        <a:t>CV, peak-to-mean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2D2D2D"/>
                          </a:solidFill>
                          <a:latin typeface="Times New Roman"/>
                        </a:rPr>
                        <a:t>volatility; worst excursion of PCC power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2D2D2D"/>
                          </a:solidFill>
                          <a:latin typeface="Times New Roman"/>
                        </a:rPr>
                        <a:t>lower is flatter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2D2D2D"/>
                          </a:solidFill>
                          <a:latin typeface="Times New Roman"/>
                        </a:rPr>
                        <a:t>Voltage sag</a:t>
                      </a:r>
                    </a:p>
                  </a:txBody>
                  <a:tcPr marL="109728" marR="109728" marT="54864" marB="54864"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2D2D2D"/>
                          </a:solidFill>
                          <a:latin typeface="Times New Roman"/>
                        </a:rPr>
                        <a:t>PCC voltage dips and their depth</a:t>
                      </a:r>
                    </a:p>
                  </a:txBody>
                  <a:tcPr marL="109728" marR="109728" marT="54864" marB="54864"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2D2D2D"/>
                          </a:solidFill>
                          <a:latin typeface="Times New Roman"/>
                        </a:rPr>
                        <a:t>0.95 pu (IEEE 1159)</a:t>
                      </a:r>
                    </a:p>
                  </a:txBody>
                  <a:tcPr marL="109728" marR="109728" marT="54864" marB="54864" anchor="ctr"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2D2D2D"/>
                          </a:solidFill>
                          <a:latin typeface="Times New Roman"/>
                        </a:rPr>
                        <a:t>Frequency nadir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2D2D2D"/>
                          </a:solidFill>
                          <a:latin typeface="Times New Roman"/>
                        </a:rPr>
                        <a:t>lowest frequency after a load swing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2D2D2D"/>
                          </a:solidFill>
                          <a:latin typeface="Times New Roman"/>
                        </a:rPr>
                        <a:t>59.3 Hz relay (NERC BAL-003)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2D2D2D"/>
                          </a:solidFill>
                          <a:latin typeface="Times New Roman"/>
                        </a:rPr>
                        <a:t>ROCOF</a:t>
                      </a:r>
                    </a:p>
                  </a:txBody>
                  <a:tcPr marL="109728" marR="109728" marT="54864" marB="54864"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2D2D2D"/>
                          </a:solidFill>
                          <a:latin typeface="Times New Roman"/>
                        </a:rPr>
                        <a:t>how fast frequency moves</a:t>
                      </a:r>
                    </a:p>
                  </a:txBody>
                  <a:tcPr marL="109728" marR="109728" marT="54864" marB="54864"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2D2D2D"/>
                          </a:solidFill>
                          <a:latin typeface="Times New Roman"/>
                        </a:rPr>
                        <a:t>Hz/s (no fixed limit)</a:t>
                      </a:r>
                    </a:p>
                  </a:txBody>
                  <a:tcPr marL="109728" marR="109728" marT="54864" marB="54864" anchor="ctr"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2D2D2D"/>
                          </a:solidFill>
                          <a:latin typeface="Times New Roman"/>
                        </a:rPr>
                        <a:t>Ramp rate (RREI, NRS)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2D2D2D"/>
                          </a:solidFill>
                          <a:latin typeface="Times New Roman"/>
                        </a:rPr>
                        <a:t>MW/min above the limit, annualized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2D2D2D"/>
                          </a:solidFill>
                          <a:latin typeface="Times New Roman"/>
                        </a:rPr>
                        <a:t>20 MW/min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2D2D2D"/>
                          </a:solidFill>
                          <a:latin typeface="Times New Roman"/>
                        </a:rPr>
                        <a:t>Runtime, energy, Gflop/s</a:t>
                      </a:r>
                    </a:p>
                  </a:txBody>
                  <a:tcPr marL="109728" marR="109728" marT="54864" marB="54864"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2D2D2D"/>
                          </a:solidFill>
                          <a:latin typeface="Times New Roman"/>
                        </a:rPr>
                        <a:t>what smoothing costs</a:t>
                      </a:r>
                    </a:p>
                  </a:txBody>
                  <a:tcPr marL="109728" marR="109728" marT="54864" marB="54864"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2D2D2D"/>
                          </a:solidFill>
                          <a:latin typeface="Times New Roman"/>
                        </a:rPr>
                        <a:t>vs. own baseline</a:t>
                      </a:r>
                    </a:p>
                  </a:txBody>
                  <a:tcPr marL="109728" marR="109728" marT="54864" marB="54864" anchor="ctr"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8" name="TextBox 47"/>
          <p:cNvSpPr txBox="1"/>
          <p:nvPr/>
        </p:nvSpPr>
        <p:spPr>
          <a:xfrm>
            <a:off x="14935200" y="12271248"/>
            <a:ext cx="14020800" cy="11541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2500" b="1" dirty="0">
                <a:solidFill>
                  <a:srgbClr val="C8102E"/>
                </a:solidFill>
                <a:latin typeface="Times New Roman"/>
              </a:rPr>
              <a:t>Experiment Design</a:t>
            </a:r>
            <a:r>
              <a:rPr sz="2500" b="1" i="0" dirty="0">
                <a:solidFill>
                  <a:srgbClr val="C8102E"/>
                </a:solidFill>
                <a:latin typeface="Times New Roman"/>
              </a:rPr>
              <a:t>: </a:t>
            </a:r>
            <a:r>
              <a:rPr lang="en-US" sz="2500" dirty="0">
                <a:solidFill>
                  <a:srgbClr val="2D2D2D"/>
                </a:solidFill>
                <a:latin typeface="Times New Roman"/>
              </a:rPr>
              <a:t>score 13 metrics for every</a:t>
            </a:r>
            <a:r>
              <a:rPr sz="2500" b="0" i="0" dirty="0">
                <a:solidFill>
                  <a:srgbClr val="2D2D2D"/>
                </a:solidFill>
                <a:latin typeface="Times New Roman"/>
              </a:rPr>
              <a:t> run against its own workload's baseline</a:t>
            </a:r>
            <a:r>
              <a:rPr lang="en-US" sz="2500" dirty="0">
                <a:solidFill>
                  <a:srgbClr val="2D2D2D"/>
                </a:solidFill>
                <a:latin typeface="Times New Roman"/>
              </a:rPr>
              <a:t>. Repeat</a:t>
            </a:r>
            <a:r>
              <a:rPr lang="en-US" sz="2500" b="0" i="0" dirty="0">
                <a:solidFill>
                  <a:srgbClr val="2D2D2D"/>
                </a:solidFill>
                <a:latin typeface="Times New Roman"/>
              </a:rPr>
              <a:t> </a:t>
            </a:r>
            <a:r>
              <a:rPr lang="en-US" sz="2500" dirty="0">
                <a:solidFill>
                  <a:srgbClr val="2D2D2D"/>
                </a:solidFill>
                <a:latin typeface="Times New Roman"/>
              </a:rPr>
              <a:t>each run four times. Simulate a grid of 10,000 identical servers synchronously running to evaluate risk of damage to the grid. All metrics were custom-made, inspired by IEEE and NERC safety standards for industrial use.</a:t>
            </a:r>
            <a:endParaRPr lang="en-US" sz="2500" b="0" i="0" dirty="0">
              <a:solidFill>
                <a:srgbClr val="2D2D2D"/>
              </a:solidFill>
              <a:latin typeface="Times New Roman"/>
              <a:ea typeface="Calibri"/>
              <a:cs typeface="Calibri"/>
            </a:endParaRPr>
          </a:p>
        </p:txBody>
      </p:sp>
      <p:sp>
        <p:nvSpPr>
          <p:cNvPr id="49" name="section Results"/>
          <p:cNvSpPr/>
          <p:nvPr/>
        </p:nvSpPr>
        <p:spPr>
          <a:xfrm>
            <a:off x="14935200" y="14122829"/>
            <a:ext cx="14020800" cy="77724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4600" b="1" spc="300">
                <a:solidFill>
                  <a:srgbClr val="FFFFFF"/>
                </a:solidFill>
                <a:latin typeface="Times New Roman"/>
              </a:rPr>
              <a:t>RESULTS</a:t>
            </a:r>
          </a:p>
        </p:txBody>
      </p:sp>
      <p:sp>
        <p:nvSpPr>
          <p:cNvPr id="50" name="sub R1"/>
          <p:cNvSpPr/>
          <p:nvPr/>
        </p:nvSpPr>
        <p:spPr>
          <a:xfrm>
            <a:off x="14935200" y="15101237"/>
            <a:ext cx="14020800" cy="603504"/>
          </a:xfrm>
          <a:prstGeom prst="rect">
            <a:avLst/>
          </a:prstGeom>
          <a:solidFill>
            <a:srgbClr val="F8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0" bIns="0" rtlCol="0" anchor="ctr"/>
          <a:lstStyle/>
          <a:p>
            <a:pPr algn="l"/>
            <a:r>
              <a:rPr sz="3600" b="1">
                <a:solidFill>
                  <a:srgbClr val="C8102E"/>
                </a:solidFill>
                <a:latin typeface="Times New Roman"/>
              </a:rPr>
              <a:t>R1  </a:t>
            </a:r>
            <a:r>
              <a:rPr sz="3600" b="1">
                <a:solidFill>
                  <a:srgbClr val="2D2D2D"/>
                </a:solidFill>
                <a:latin typeface="Times New Roman"/>
              </a:rPr>
              <a:t>Ramp &amp; fill flattens power best</a:t>
            </a:r>
          </a:p>
        </p:txBody>
      </p:sp>
      <p:pic>
        <p:nvPicPr>
          <p:cNvPr id="51" name="Picture 50" descr="C_hero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935200" y="15905909"/>
            <a:ext cx="14020800" cy="7768281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14935200" y="23875358"/>
            <a:ext cx="14020800" cy="6463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0" i="1" dirty="0">
                <a:solidFill>
                  <a:srgbClr val="6B7280"/>
                </a:solidFill>
                <a:latin typeface="Times New Roman"/>
              </a:rPr>
              <a:t>Top: one server, measured. Bottom: the same traces after fleet aggregation and the UPS, which acts as a 15 s low-pass filter: fast fluctuations never reach the grid, </a:t>
            </a:r>
            <a:r>
              <a:rPr lang="en-US" sz="2100" i="1" dirty="0">
                <a:solidFill>
                  <a:srgbClr val="6B7280"/>
                </a:solidFill>
                <a:latin typeface="Times New Roman"/>
              </a:rPr>
              <a:t>but </a:t>
            </a:r>
            <a:r>
              <a:rPr sz="2100" b="0" i="1" dirty="0">
                <a:solidFill>
                  <a:srgbClr val="6B7280"/>
                </a:solidFill>
                <a:latin typeface="Times New Roman"/>
              </a:rPr>
              <a:t>the slow duty-cycle </a:t>
            </a:r>
            <a:r>
              <a:rPr lang="en-US" sz="2100" i="1" dirty="0">
                <a:solidFill>
                  <a:srgbClr val="6B7280"/>
                </a:solidFill>
                <a:latin typeface="Times New Roman"/>
              </a:rPr>
              <a:t>effects do</a:t>
            </a:r>
            <a:r>
              <a:rPr sz="2100" b="0" i="1" dirty="0">
                <a:solidFill>
                  <a:srgbClr val="6B7280"/>
                </a:solidFill>
                <a:latin typeface="Times New Roman"/>
              </a:rPr>
              <a:t>.</a:t>
            </a:r>
          </a:p>
        </p:txBody>
      </p:sp>
      <p:sp>
        <p:nvSpPr>
          <p:cNvPr id="53" name="sub R2"/>
          <p:cNvSpPr/>
          <p:nvPr/>
        </p:nvSpPr>
        <p:spPr>
          <a:xfrm>
            <a:off x="14935200" y="25224019"/>
            <a:ext cx="14020800" cy="603504"/>
          </a:xfrm>
          <a:prstGeom prst="rect">
            <a:avLst/>
          </a:prstGeom>
          <a:solidFill>
            <a:srgbClr val="F8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0" bIns="0" rtlCol="0" anchor="ctr"/>
          <a:lstStyle/>
          <a:p>
            <a:pPr algn="l"/>
            <a:r>
              <a:rPr sz="3600" b="1">
                <a:solidFill>
                  <a:srgbClr val="C8102E"/>
                </a:solidFill>
                <a:latin typeface="Times New Roman"/>
              </a:rPr>
              <a:t>R2  </a:t>
            </a:r>
            <a:r>
              <a:rPr sz="3600" b="1">
                <a:solidFill>
                  <a:srgbClr val="2D2D2D"/>
                </a:solidFill>
                <a:latin typeface="Times New Roman"/>
              </a:rPr>
              <a:t>Grid stress: voltage swings</a:t>
            </a:r>
          </a:p>
        </p:txBody>
      </p:sp>
      <p:pic>
        <p:nvPicPr>
          <p:cNvPr id="54" name="Picture 53" descr="F_sweep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935200" y="26028691"/>
            <a:ext cx="14020800" cy="5545540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14935200" y="31775400"/>
            <a:ext cx="140208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0" i="1">
                <a:solidFill>
                  <a:srgbClr val="6B7280"/>
                </a:solidFill>
                <a:latin typeface="Times New Roman"/>
              </a:rPr>
              <a:t>Peak-to-trough voltage at the grid connection during steady running; mean of 3 workloads ± run-to-run SD, n = 4. For scale: unsmoothed, voltage sags below the 0.95 pu IEEE limit near 10,000 servers.</a:t>
            </a:r>
          </a:p>
        </p:txBody>
      </p:sp>
      <p:sp>
        <p:nvSpPr>
          <p:cNvPr id="56" name="sub R3"/>
          <p:cNvSpPr/>
          <p:nvPr/>
        </p:nvSpPr>
        <p:spPr>
          <a:xfrm>
            <a:off x="29413200" y="5532120"/>
            <a:ext cx="14020800" cy="603504"/>
          </a:xfrm>
          <a:prstGeom prst="rect">
            <a:avLst/>
          </a:prstGeom>
          <a:solidFill>
            <a:srgbClr val="F8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0" bIns="0" rtlCol="0" anchor="ctr"/>
          <a:lstStyle/>
          <a:p>
            <a:pPr algn="l"/>
            <a:r>
              <a:rPr sz="3600" b="1">
                <a:solidFill>
                  <a:srgbClr val="C8102E"/>
                </a:solidFill>
                <a:latin typeface="Times New Roman"/>
              </a:rPr>
              <a:t>R3  </a:t>
            </a:r>
            <a:r>
              <a:rPr sz="3600" b="1">
                <a:solidFill>
                  <a:srgbClr val="2D2D2D"/>
                </a:solidFill>
                <a:latin typeface="Times New Roman"/>
              </a:rPr>
              <a:t>The cost of smoothing: runtime and energy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29413200" y="6336792"/>
            <a:ext cx="449072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29550360" y="6364224"/>
            <a:ext cx="421640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5800" b="1" i="0">
                <a:solidFill>
                  <a:srgbClr val="2A78D6"/>
                </a:solidFill>
                <a:latin typeface="Times New Roman"/>
              </a:rPr>
              <a:t>91%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9550360" y="7287768"/>
            <a:ext cx="4216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700" b="1" i="0">
                <a:solidFill>
                  <a:srgbClr val="2D2D2D"/>
                </a:solidFill>
                <a:latin typeface="Times New Roman"/>
              </a:rPr>
              <a:t>ramp &amp; fill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9550360" y="7726679"/>
            <a:ext cx="4216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6B7280"/>
                </a:solidFill>
                <a:latin typeface="Times New Roman"/>
              </a:rPr>
              <a:t>less grid variability (±1%)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34178240" y="6336792"/>
            <a:ext cx="449072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38943280" y="6336792"/>
            <a:ext cx="449072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39080440" y="6364224"/>
            <a:ext cx="421640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5800" b="1" i="0">
                <a:solidFill>
                  <a:srgbClr val="1BAF7A"/>
                </a:solidFill>
                <a:latin typeface="Times New Roman"/>
              </a:rPr>
              <a:t>21%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9080440" y="7287768"/>
            <a:ext cx="4216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700" b="1" i="0">
                <a:solidFill>
                  <a:srgbClr val="2D2D2D"/>
                </a:solidFill>
                <a:latin typeface="Times New Roman"/>
              </a:rPr>
              <a:t>governor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9080440" y="7726679"/>
            <a:ext cx="4216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6B7280"/>
                </a:solidFill>
                <a:latin typeface="Times New Roman"/>
              </a:rPr>
              <a:t>less grid variability (±13%)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4315400" y="6364224"/>
            <a:ext cx="421640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5800" b="1" i="0">
                <a:solidFill>
                  <a:srgbClr val="EB6834"/>
                </a:solidFill>
                <a:latin typeface="Times New Roman"/>
              </a:rPr>
              <a:t>8%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4315400" y="7287768"/>
            <a:ext cx="4216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700" b="1" i="0">
                <a:solidFill>
                  <a:srgbClr val="2D2D2D"/>
                </a:solidFill>
                <a:latin typeface="Times New Roman"/>
              </a:rPr>
              <a:t>power smoother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4315400" y="7726679"/>
            <a:ext cx="4216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6B7280"/>
                </a:solidFill>
                <a:latin typeface="Times New Roman"/>
              </a:rPr>
              <a:t>less grid variability (±4%)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9413200" y="8458200"/>
            <a:ext cx="14020800" cy="3657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0" i="1">
                <a:solidFill>
                  <a:srgbClr val="6B7280"/>
                </a:solidFill>
                <a:latin typeface="Times New Roman"/>
              </a:rPr>
              <a:t>Reduction in grid-facing variability (CV of facility power): mean of 3 workloads ± run-to-run SD, n = 4 repeats.</a:t>
            </a:r>
          </a:p>
        </p:txBody>
      </p:sp>
      <p:pic>
        <p:nvPicPr>
          <p:cNvPr id="70" name="Picture 69" descr="E_tradeoff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0755844" y="8942832"/>
            <a:ext cx="11338560" cy="5330815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29413200" y="14410807"/>
            <a:ext cx="14020800" cy="3657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0" i="1">
                <a:solidFill>
                  <a:srgbClr val="6B7280"/>
                </a:solidFill>
                <a:latin typeface="Times New Roman"/>
              </a:rPr>
              <a:t>Benefit (left) against what it costs the server in energy and runtime (right).</a:t>
            </a:r>
          </a:p>
        </p:txBody>
      </p:sp>
      <p:sp>
        <p:nvSpPr>
          <p:cNvPr id="72" name="sub R4"/>
          <p:cNvSpPr/>
          <p:nvPr/>
        </p:nvSpPr>
        <p:spPr>
          <a:xfrm>
            <a:off x="29413200" y="15279487"/>
            <a:ext cx="14020800" cy="603504"/>
          </a:xfrm>
          <a:prstGeom prst="rect">
            <a:avLst/>
          </a:prstGeom>
          <a:solidFill>
            <a:srgbClr val="F8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0" bIns="0" rtlCol="0" anchor="ctr"/>
          <a:lstStyle/>
          <a:p>
            <a:pPr algn="l"/>
            <a:r>
              <a:rPr sz="3600" b="1">
                <a:solidFill>
                  <a:srgbClr val="C8102E"/>
                </a:solidFill>
                <a:latin typeface="Times New Roman"/>
              </a:rPr>
              <a:t>R4  </a:t>
            </a:r>
            <a:r>
              <a:rPr sz="3600" b="1">
                <a:solidFill>
                  <a:srgbClr val="2D2D2D"/>
                </a:solidFill>
                <a:latin typeface="Times New Roman"/>
              </a:rPr>
              <a:t>Forecasting power swings: not yet possible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9413200" y="16084159"/>
            <a:ext cx="14020800" cy="472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0" i="0">
                <a:solidFill>
                  <a:srgbClr val="2D2D2D"/>
                </a:solidFill>
                <a:latin typeface="Times New Roman"/>
              </a:rPr>
              <a:t>Smoothing needs warning, so we tried to forecast power, then to detect it early:</a:t>
            </a:r>
          </a:p>
        </p:txBody>
      </p:sp>
      <p:graphicFrame>
        <p:nvGraphicFramePr>
          <p:cNvPr id="74" name="Table 73"/>
          <p:cNvGraphicFramePr>
            <a:graphicFrameLocks noGrp="1"/>
          </p:cNvGraphicFramePr>
          <p:nvPr/>
        </p:nvGraphicFramePr>
        <p:xfrm>
          <a:off x="29413200" y="16757767"/>
          <a:ext cx="14020800" cy="2392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49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712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8536">
                <a:tc>
                  <a:txBody>
                    <a:bodyPr/>
                    <a:lstStyle/>
                    <a:p>
                      <a:r>
                        <a:rPr sz="2300" b="1">
                          <a:solidFill>
                            <a:srgbClr val="2D2D2D"/>
                          </a:solidFill>
                          <a:latin typeface="Times New Roman"/>
                        </a:rPr>
                        <a:t>Approach</a:t>
                      </a:r>
                    </a:p>
                  </a:txBody>
                  <a:tcPr marL="109728" marR="109728" marT="54864" marB="54864" anchor="ctr">
                    <a:solidFill>
                      <a:srgbClr val="F8E7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00" b="1">
                          <a:solidFill>
                            <a:srgbClr val="2D2D2D"/>
                          </a:solidFill>
                          <a:latin typeface="Times New Roman"/>
                        </a:rPr>
                        <a:t>What happened</a:t>
                      </a:r>
                    </a:p>
                  </a:txBody>
                  <a:tcPr marL="109728" marR="109728" marT="54864" marB="54864" anchor="ctr">
                    <a:solidFill>
                      <a:srgbClr val="F8E7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8536">
                <a:tc>
                  <a:txBody>
                    <a:bodyPr/>
                    <a:lstStyle/>
                    <a:p>
                      <a:r>
                        <a:rPr sz="2300" b="0">
                          <a:solidFill>
                            <a:srgbClr val="2D2D2D"/>
                          </a:solidFill>
                          <a:latin typeface="Times New Roman"/>
                        </a:rPr>
                        <a:t>Regression (OLS), 5 s ahead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00" b="0">
                          <a:solidFill>
                            <a:srgbClr val="2D2D2D"/>
                          </a:solidFill>
                          <a:latin typeface="Times New Roman"/>
                        </a:rPr>
                        <a:t>caught 19 of 1,735 spikes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8536">
                <a:tc>
                  <a:txBody>
                    <a:bodyPr/>
                    <a:lstStyle/>
                    <a:p>
                      <a:r>
                        <a:rPr sz="2300" b="0">
                          <a:solidFill>
                            <a:srgbClr val="2D2D2D"/>
                          </a:solidFill>
                          <a:latin typeface="Times New Roman"/>
                        </a:rPr>
                        <a:t>Random forest + Kalman filter</a:t>
                      </a:r>
                    </a:p>
                  </a:txBody>
                  <a:tcPr marL="109728" marR="109728" marT="54864" marB="54864"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00" b="0">
                          <a:solidFill>
                            <a:srgbClr val="2D2D2D"/>
                          </a:solidFill>
                          <a:latin typeface="Times New Roman"/>
                        </a:rPr>
                        <a:t>PR-AUC 0.68, but flags 10–20 s late</a:t>
                      </a:r>
                    </a:p>
                  </a:txBody>
                  <a:tcPr marL="109728" marR="109728" marT="54864" marB="54864" anchor="ctr"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8536">
                <a:tc>
                  <a:txBody>
                    <a:bodyPr/>
                    <a:lstStyle/>
                    <a:p>
                      <a:r>
                        <a:rPr sz="2300" b="0">
                          <a:solidFill>
                            <a:srgbClr val="2D2D2D"/>
                          </a:solidFill>
                          <a:latin typeface="Times New Roman"/>
                        </a:rPr>
                        <a:t>Run-queue jerk, Hawkes process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00" b="0">
                          <a:solidFill>
                            <a:srgbClr val="2D2D2D"/>
                          </a:solidFill>
                          <a:latin typeface="Times New Roman"/>
                        </a:rPr>
                        <a:t>real precursor (d = 1.5), branching 0.84–0.96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8536">
                <a:tc>
                  <a:txBody>
                    <a:bodyPr/>
                    <a:lstStyle/>
                    <a:p>
                      <a:r>
                        <a:rPr sz="2300" b="0">
                          <a:solidFill>
                            <a:srgbClr val="2D2D2D"/>
                          </a:solidFill>
                          <a:latin typeface="Times New Roman"/>
                        </a:rPr>
                        <a:t>CPU-utilization edge detector</a:t>
                      </a:r>
                    </a:p>
                  </a:txBody>
                  <a:tcPr marL="109728" marR="109728" marT="54864" marB="54864"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00" b="0" dirty="0">
                          <a:solidFill>
                            <a:srgbClr val="2D2D2D"/>
                          </a:solidFill>
                          <a:latin typeface="Times New Roman"/>
                        </a:rPr>
                        <a:t>best: one 10 Hz sample, 5 alarms/</a:t>
                      </a:r>
                      <a:r>
                        <a:rPr sz="2300" b="0" dirty="0" err="1">
                          <a:solidFill>
                            <a:srgbClr val="2D2D2D"/>
                          </a:solidFill>
                          <a:latin typeface="Times New Roman"/>
                        </a:rPr>
                        <a:t>hr</a:t>
                      </a:r>
                      <a:endParaRPr sz="2300" b="0" dirty="0">
                        <a:solidFill>
                          <a:srgbClr val="2D2D2D"/>
                        </a:solidFill>
                        <a:latin typeface="Times New Roman"/>
                      </a:endParaRPr>
                    </a:p>
                  </a:txBody>
                  <a:tcPr marL="109728" marR="109728" marT="54864" marB="54864" anchor="ctr"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5" name="TextBox 74"/>
          <p:cNvSpPr txBox="1"/>
          <p:nvPr/>
        </p:nvSpPr>
        <p:spPr>
          <a:xfrm>
            <a:off x="29413200" y="19351615"/>
            <a:ext cx="278257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4400" b="1" i="0">
                <a:solidFill>
                  <a:srgbClr val="B3261E"/>
                </a:solidFill>
                <a:latin typeface="Times New Roman"/>
              </a:rPr>
              <a:t>0.23 s late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2470090" y="19351615"/>
            <a:ext cx="1096391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0" i="0">
                <a:solidFill>
                  <a:srgbClr val="2D2D2D"/>
                </a:solidFill>
                <a:latin typeface="Times New Roman"/>
              </a:rPr>
              <a:t>median delay of the best detector on an independent workload: it fires after the transition, not before (recall 33%, precision 19%).</a:t>
            </a:r>
          </a:p>
        </p:txBody>
      </p:sp>
      <p:sp>
        <p:nvSpPr>
          <p:cNvPr id="77" name="section Conclusions"/>
          <p:cNvSpPr/>
          <p:nvPr/>
        </p:nvSpPr>
        <p:spPr>
          <a:xfrm>
            <a:off x="29413200" y="20540335"/>
            <a:ext cx="14020800" cy="77724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4600" b="1" spc="300">
                <a:solidFill>
                  <a:srgbClr val="FFFFFF"/>
                </a:solidFill>
                <a:latin typeface="Times New Roman"/>
              </a:rPr>
              <a:t>CONCLUSION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9413200" y="21518743"/>
            <a:ext cx="14020800" cy="5049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lang="en-US" sz="2800" b="1" dirty="0">
                <a:solidFill>
                  <a:srgbClr val="C8102E"/>
                </a:solidFill>
                <a:latin typeface="Times New Roman"/>
              </a:rPr>
              <a:t>Voltage is the problem</a:t>
            </a:r>
            <a:r>
              <a:rPr sz="2800" b="1" i="0" dirty="0">
                <a:solidFill>
                  <a:srgbClr val="C8102E"/>
                </a:solidFill>
                <a:latin typeface="Times New Roman"/>
              </a:rPr>
              <a:t>: </a:t>
            </a:r>
            <a:r>
              <a:rPr lang="en-US" sz="2800" dirty="0">
                <a:solidFill>
                  <a:srgbClr val="2D2D2D"/>
                </a:solidFill>
                <a:latin typeface="Times New Roman"/>
              </a:rPr>
              <a:t>in the worst case, where all servers run in lockstep, the first damage to the grid is when voltage drops too low. Voltage sags are the bottleneck for synchronous jobs.</a:t>
            </a:r>
            <a:endParaRPr sz="2800" b="0" i="0" dirty="0">
              <a:solidFill>
                <a:srgbClr val="2D2D2D"/>
              </a:solidFill>
              <a:latin typeface="Times New Roman"/>
            </a:endParaRPr>
          </a:p>
          <a:p>
            <a:pPr algn="l">
              <a:spcAft>
                <a:spcPts val="800"/>
              </a:spcAft>
            </a:pPr>
            <a:r>
              <a:rPr sz="2800" b="1" i="0" dirty="0">
                <a:solidFill>
                  <a:srgbClr val="C8102E"/>
                </a:solidFill>
                <a:latin typeface="Times New Roman"/>
              </a:rPr>
              <a:t>Proactive </a:t>
            </a:r>
            <a:r>
              <a:rPr lang="en-US" sz="2800" b="1" i="0" dirty="0">
                <a:solidFill>
                  <a:srgbClr val="C8102E"/>
                </a:solidFill>
                <a:latin typeface="Times New Roman"/>
              </a:rPr>
              <a:t>strategy</a:t>
            </a:r>
            <a:r>
              <a:rPr sz="2800" b="1" i="0" dirty="0">
                <a:solidFill>
                  <a:srgbClr val="C8102E"/>
                </a:solidFill>
                <a:latin typeface="Times New Roman"/>
              </a:rPr>
              <a:t> works: </a:t>
            </a:r>
            <a:r>
              <a:rPr sz="2800" b="0" i="0" dirty="0">
                <a:solidFill>
                  <a:srgbClr val="2D2D2D"/>
                </a:solidFill>
                <a:latin typeface="Times New Roman"/>
              </a:rPr>
              <a:t>ramp &amp; fill </a:t>
            </a:r>
            <a:r>
              <a:rPr lang="en-US" sz="2800" b="0" i="0" dirty="0">
                <a:solidFill>
                  <a:srgbClr val="2D2D2D"/>
                </a:solidFill>
                <a:latin typeface="Times New Roman"/>
              </a:rPr>
              <a:t>significantly </a:t>
            </a:r>
            <a:r>
              <a:rPr lang="en-US" sz="2800" dirty="0">
                <a:solidFill>
                  <a:srgbClr val="2D2D2D"/>
                </a:solidFill>
                <a:latin typeface="Times New Roman"/>
              </a:rPr>
              <a:t>flattens power and voltage swings</a:t>
            </a:r>
            <a:r>
              <a:rPr sz="2800" b="0" i="0" dirty="0">
                <a:solidFill>
                  <a:srgbClr val="2D2D2D"/>
                </a:solidFill>
                <a:latin typeface="Times New Roman"/>
              </a:rPr>
              <a:t> for </a:t>
            </a:r>
            <a:r>
              <a:rPr lang="en-US" sz="2800" dirty="0">
                <a:solidFill>
                  <a:srgbClr val="2D2D2D"/>
                </a:solidFill>
                <a:latin typeface="Times New Roman"/>
              </a:rPr>
              <a:t>a premium cost</a:t>
            </a:r>
            <a:r>
              <a:rPr sz="2800" b="0" i="0" dirty="0">
                <a:solidFill>
                  <a:srgbClr val="2D2D2D"/>
                </a:solidFill>
                <a:latin typeface="Times New Roman"/>
              </a:rPr>
              <a:t>.</a:t>
            </a:r>
            <a:r>
              <a:rPr lang="en-US" sz="2800" b="0" i="0" dirty="0">
                <a:solidFill>
                  <a:srgbClr val="2D2D2D"/>
                </a:solidFill>
                <a:latin typeface="Times New Roman"/>
              </a:rPr>
              <a:t> Worth it for lon</a:t>
            </a:r>
            <a:r>
              <a:rPr lang="en-US" sz="2800" dirty="0">
                <a:solidFill>
                  <a:srgbClr val="2D2D2D"/>
                </a:solidFill>
                <a:latin typeface="Times New Roman"/>
              </a:rPr>
              <a:t>g jobs that maintain high power, which are relevant to the NSA.</a:t>
            </a:r>
            <a:endParaRPr sz="2800" b="0" i="0" dirty="0">
              <a:solidFill>
                <a:srgbClr val="2D2D2D"/>
              </a:solidFill>
              <a:latin typeface="Times New Roman"/>
            </a:endParaRPr>
          </a:p>
          <a:p>
            <a:pPr algn="l">
              <a:spcAft>
                <a:spcPts val="800"/>
              </a:spcAft>
            </a:pPr>
            <a:r>
              <a:rPr sz="2800" b="1" i="0" dirty="0">
                <a:solidFill>
                  <a:srgbClr val="C8102E"/>
                </a:solidFill>
                <a:latin typeface="Times New Roman"/>
              </a:rPr>
              <a:t>Reacting is late b</a:t>
            </a:r>
            <a:r>
              <a:rPr lang="en-US" sz="2800" b="1" i="0" dirty="0">
                <a:solidFill>
                  <a:srgbClr val="C8102E"/>
                </a:solidFill>
                <a:latin typeface="Times New Roman"/>
              </a:rPr>
              <a:t>ut viable</a:t>
            </a:r>
            <a:r>
              <a:rPr sz="2800" b="1" i="0" dirty="0">
                <a:solidFill>
                  <a:srgbClr val="C8102E"/>
                </a:solidFill>
                <a:latin typeface="Times New Roman"/>
              </a:rPr>
              <a:t>: </a:t>
            </a:r>
            <a:r>
              <a:rPr sz="2800" b="0" i="0" dirty="0">
                <a:solidFill>
                  <a:srgbClr val="2D2D2D"/>
                </a:solidFill>
                <a:latin typeface="Times New Roman"/>
              </a:rPr>
              <a:t>power </a:t>
            </a:r>
            <a:r>
              <a:rPr lang="en-US" sz="2800" dirty="0">
                <a:solidFill>
                  <a:srgbClr val="2D2D2D"/>
                </a:solidFill>
                <a:latin typeface="Times New Roman"/>
              </a:rPr>
              <a:t>swings can’t be predicted yet</a:t>
            </a:r>
            <a:r>
              <a:rPr sz="2800" b="0" i="0" dirty="0">
                <a:solidFill>
                  <a:srgbClr val="2D2D2D"/>
                </a:solidFill>
                <a:latin typeface="Times New Roman"/>
              </a:rPr>
              <a:t>, </a:t>
            </a:r>
            <a:r>
              <a:rPr lang="en-US" sz="2800" b="0" i="0" dirty="0">
                <a:solidFill>
                  <a:srgbClr val="2D2D2D"/>
                </a:solidFill>
                <a:latin typeface="Times New Roman"/>
              </a:rPr>
              <a:t>but</a:t>
            </a:r>
            <a:r>
              <a:rPr sz="2800" b="0" i="0" dirty="0">
                <a:solidFill>
                  <a:srgbClr val="2D2D2D"/>
                </a:solidFill>
                <a:latin typeface="Times New Roman"/>
              </a:rPr>
              <a:t> the governor still trims ~20% </a:t>
            </a:r>
            <a:r>
              <a:rPr lang="en-US" sz="2800" b="0" i="0" dirty="0">
                <a:solidFill>
                  <a:srgbClr val="2D2D2D"/>
                </a:solidFill>
                <a:latin typeface="Times New Roman"/>
              </a:rPr>
              <a:t>of variation </a:t>
            </a:r>
            <a:r>
              <a:rPr sz="2800" b="0" i="0" dirty="0">
                <a:solidFill>
                  <a:srgbClr val="2D2D2D"/>
                </a:solidFill>
                <a:latin typeface="Times New Roman"/>
              </a:rPr>
              <a:t>for </a:t>
            </a:r>
            <a:r>
              <a:rPr lang="en-US" sz="2800" b="0" i="0" dirty="0">
                <a:solidFill>
                  <a:srgbClr val="2D2D2D"/>
                </a:solidFill>
                <a:latin typeface="Times New Roman"/>
              </a:rPr>
              <a:t>minimal cost</a:t>
            </a:r>
            <a:r>
              <a:rPr sz="2800" b="0" i="0" dirty="0">
                <a:solidFill>
                  <a:srgbClr val="2D2D2D"/>
                </a:solidFill>
                <a:latin typeface="Times New Roman"/>
              </a:rPr>
              <a:t>.</a:t>
            </a:r>
            <a:r>
              <a:rPr lang="en-US" sz="2800" dirty="0">
                <a:solidFill>
                  <a:srgbClr val="2D2D2D"/>
                </a:solidFill>
                <a:latin typeface="Times New Roman"/>
              </a:rPr>
              <a:t> Improved telemetry would only make this method better.</a:t>
            </a:r>
            <a:endParaRPr sz="2800" b="0" i="0" dirty="0">
              <a:solidFill>
                <a:srgbClr val="2D2D2D"/>
              </a:solidFill>
              <a:latin typeface="Times New Roman"/>
            </a:endParaRPr>
          </a:p>
          <a:p>
            <a:r>
              <a:rPr lang="en-US" sz="2800" b="1" dirty="0">
                <a:solidFill>
                  <a:srgbClr val="C8102E"/>
                </a:solidFill>
                <a:latin typeface="Times New Roman"/>
              </a:rPr>
              <a:t>Deliverables</a:t>
            </a:r>
            <a:r>
              <a:rPr sz="2800" b="1" i="0" dirty="0">
                <a:solidFill>
                  <a:srgbClr val="C8102E"/>
                </a:solidFill>
                <a:latin typeface="Times New Roman"/>
              </a:rPr>
              <a:t>: </a:t>
            </a:r>
            <a:r>
              <a:rPr sz="2800" b="0" i="0" dirty="0">
                <a:solidFill>
                  <a:srgbClr val="2D2D2D"/>
                </a:solidFill>
                <a:latin typeface="Times New Roman"/>
              </a:rPr>
              <a:t>a live monitor that costs 0.017% of the server</a:t>
            </a:r>
            <a:r>
              <a:rPr lang="en-US" sz="2800" dirty="0">
                <a:solidFill>
                  <a:srgbClr val="2D2D2D"/>
                </a:solidFill>
                <a:latin typeface="Times New Roman"/>
              </a:rPr>
              <a:t> </a:t>
            </a:r>
            <a:r>
              <a:rPr sz="2800" b="0" i="0" dirty="0">
                <a:solidFill>
                  <a:srgbClr val="2D2D2D"/>
                </a:solidFill>
                <a:latin typeface="Times New Roman"/>
              </a:rPr>
              <a:t>and a</a:t>
            </a:r>
            <a:r>
              <a:rPr lang="en-US" sz="2800" dirty="0">
                <a:solidFill>
                  <a:srgbClr val="2D2D2D"/>
                </a:solidFill>
                <a:latin typeface="Times New Roman"/>
              </a:rPr>
              <a:t> novel </a:t>
            </a:r>
            <a:r>
              <a:rPr sz="2800" b="0" i="0" dirty="0">
                <a:solidFill>
                  <a:srgbClr val="2D2D2D"/>
                </a:solidFill>
                <a:latin typeface="Times New Roman"/>
              </a:rPr>
              <a:t>grid-risk </a:t>
            </a:r>
            <a:r>
              <a:rPr lang="en-US" sz="2800" dirty="0">
                <a:solidFill>
                  <a:srgbClr val="2D2D2D"/>
                </a:solidFill>
                <a:latin typeface="Times New Roman"/>
              </a:rPr>
              <a:t>evaluation framework, shared with NSA teams to continue power smoothing efforts in HPC clusters. NSA professionals shared our telemetry pipeline with AMD to inspire </a:t>
            </a:r>
            <a:r>
              <a:rPr lang="en-US" sz="2800" dirty="0">
                <a:solidFill>
                  <a:srgbClr val="2D2D2D"/>
                </a:solidFill>
                <a:latin typeface="Times New Roman"/>
                <a:ea typeface="Times New Roman"/>
                <a:cs typeface="Times New Roman"/>
              </a:rPr>
              <a:t>innovation in faster, more reliable power-reporting hardware.</a:t>
            </a:r>
            <a:endParaRPr lang="en-US" sz="2800" dirty="0">
              <a:solidFill>
                <a:srgbClr val="2D2D2D"/>
              </a:solidFill>
              <a:latin typeface="Times New Roman"/>
            </a:endParaRPr>
          </a:p>
          <a:p>
            <a:endParaRPr lang="en-US" sz="2800" b="0" i="0" dirty="0">
              <a:solidFill>
                <a:srgbClr val="2D2D2D"/>
              </a:solidFill>
              <a:latin typeface="Times New Roman"/>
              <a:ea typeface="Calibri"/>
              <a:cs typeface="Calibri"/>
            </a:endParaRPr>
          </a:p>
        </p:txBody>
      </p:sp>
      <p:pic>
        <p:nvPicPr>
          <p:cNvPr id="79" name="Picture 78" descr="qr_repo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9416248" y="26888303"/>
            <a:ext cx="2103120" cy="2103120"/>
          </a:xfrm>
          <a:prstGeom prst="rect">
            <a:avLst/>
          </a:prstGeom>
        </p:spPr>
      </p:pic>
      <p:sp>
        <p:nvSpPr>
          <p:cNvPr id="80" name="TextBox 79"/>
          <p:cNvSpPr txBox="1"/>
          <p:nvPr/>
        </p:nvSpPr>
        <p:spPr>
          <a:xfrm>
            <a:off x="29279088" y="29009711"/>
            <a:ext cx="2377439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 dirty="0">
                <a:solidFill>
                  <a:srgbClr val="2D2D2D"/>
                </a:solidFill>
                <a:latin typeface="Times New Roman"/>
              </a:rPr>
              <a:t>Code · data · </a:t>
            </a:r>
            <a:r>
              <a:rPr lang="en-US" sz="1500" b="1" dirty="0">
                <a:solidFill>
                  <a:srgbClr val="2D2D2D"/>
                </a:solidFill>
                <a:latin typeface="Times New Roman"/>
              </a:rPr>
              <a:t>technical reports</a:t>
            </a:r>
            <a:endParaRPr sz="1700" b="1" i="0" dirty="0">
              <a:solidFill>
                <a:srgbClr val="2D2D2D"/>
              </a:solidFill>
              <a:latin typeface="Times New Roman"/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31839408" y="26888303"/>
            <a:ext cx="11594592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 dirty="0">
                <a:solidFill>
                  <a:srgbClr val="C8102E"/>
                </a:solidFill>
                <a:latin typeface="Times New Roman"/>
              </a:rPr>
              <a:t>Acknowledgments  </a:t>
            </a:r>
            <a:r>
              <a:rPr sz="2200" b="0" i="0" dirty="0">
                <a:solidFill>
                  <a:srgbClr val="2D2D2D"/>
                </a:solidFill>
                <a:latin typeface="Times New Roman"/>
              </a:rPr>
              <a:t>We thank Stewart Baker</a:t>
            </a:r>
            <a:r>
              <a:rPr lang="en-US" sz="2200" b="0" i="0" dirty="0">
                <a:solidFill>
                  <a:srgbClr val="2D2D2D"/>
                </a:solidFill>
                <a:latin typeface="Times New Roman"/>
              </a:rPr>
              <a:t> </a:t>
            </a:r>
            <a:r>
              <a:rPr sz="2200" b="0" i="0" dirty="0">
                <a:solidFill>
                  <a:srgbClr val="2D2D2D"/>
                </a:solidFill>
                <a:latin typeface="Times New Roman"/>
              </a:rPr>
              <a:t>and Erin Carrick</a:t>
            </a:r>
            <a:r>
              <a:rPr lang="en-US" sz="2200" b="0" i="0" dirty="0">
                <a:solidFill>
                  <a:srgbClr val="2D2D2D"/>
                </a:solidFill>
                <a:latin typeface="Times New Roman"/>
              </a:rPr>
              <a:t> for their guidance during this project</a:t>
            </a:r>
            <a:r>
              <a:rPr sz="2200" b="0" i="0" dirty="0">
                <a:solidFill>
                  <a:srgbClr val="2D2D2D"/>
                </a:solidFill>
                <a:latin typeface="Times New Roman"/>
              </a:rPr>
              <a:t>.</a:t>
            </a:r>
            <a:r>
              <a:rPr lang="en-US" sz="2200" dirty="0">
                <a:solidFill>
                  <a:srgbClr val="2D2D2D"/>
                </a:solidFill>
                <a:latin typeface="Times New Roman"/>
              </a:rPr>
              <a:t> AI tools were used to assist software testing and implementation.</a:t>
            </a:r>
            <a:r>
              <a:rPr sz="2200" b="0" i="0" dirty="0">
                <a:solidFill>
                  <a:srgbClr val="2D2D2D"/>
                </a:solidFill>
                <a:latin typeface="Times New Roman"/>
              </a:rPr>
              <a:t> Supported by the Laboratory for Physical Sciences </a:t>
            </a:r>
            <a:r>
              <a:rPr lang="en-US" sz="2200" b="0" i="0" dirty="0">
                <a:solidFill>
                  <a:srgbClr val="2D2D2D"/>
                </a:solidFill>
                <a:latin typeface="Times New Roman"/>
              </a:rPr>
              <a:t>during the </a:t>
            </a:r>
            <a:r>
              <a:rPr sz="2200" b="0" i="0" dirty="0">
                <a:solidFill>
                  <a:srgbClr val="2D2D2D"/>
                </a:solidFill>
                <a:latin typeface="Times New Roman"/>
              </a:rPr>
              <a:t>2026 Future Computing Summer Internship at the National Security Agency.</a:t>
            </a:r>
          </a:p>
          <a:p>
            <a:pPr algn="l">
              <a:spcAft>
                <a:spcPts val="0"/>
              </a:spcAft>
            </a:pPr>
            <a:r>
              <a:rPr sz="1800" b="0" i="0" dirty="0" err="1">
                <a:solidFill>
                  <a:srgbClr val="6B7280"/>
                </a:solidFill>
                <a:latin typeface="Times New Roman"/>
              </a:rPr>
              <a:t>github.com</a:t>
            </a:r>
            <a:r>
              <a:rPr sz="1800" b="0" i="0" dirty="0">
                <a:solidFill>
                  <a:srgbClr val="6B7280"/>
                </a:solidFill>
                <a:latin typeface="Times New Roman"/>
              </a:rPr>
              <a:t>/leedanie2/Collecting-and-Adjusting-Server-Power</a:t>
            </a:r>
          </a:p>
        </p:txBody>
      </p:sp>
      <p:sp>
        <p:nvSpPr>
          <p:cNvPr id="82" name="References"/>
          <p:cNvSpPr txBox="1"/>
          <p:nvPr/>
        </p:nvSpPr>
        <p:spPr>
          <a:xfrm>
            <a:off x="29416248" y="29695510"/>
            <a:ext cx="14017752" cy="1219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 dirty="0">
                <a:solidFill>
                  <a:srgbClr val="C8102E"/>
                </a:solidFill>
                <a:latin typeface="Times New Roman"/>
              </a:rPr>
              <a:t>References  </a:t>
            </a:r>
            <a:r>
              <a:rPr sz="1600" b="0" i="0" dirty="0">
                <a:solidFill>
                  <a:srgbClr val="6B7280"/>
                </a:solidFill>
                <a:latin typeface="Times New Roman"/>
              </a:rPr>
              <a:t>[1] E. Choukse et al., Power stabilization for AI training datacenters, arXiv:2508.14318 (2025). [2] NERC, Characteristics and Risks of Emerging Large Loads (white paper). [3] NERC, Incident Review: Large Load Loss. [4] NERC, Reference Document: Balancing and Frequency Control (BAL-003). [5] IEEE Std 1159-2019, Recommended Practice for Monitoring Electric Power Quality. [6] P. Kundur, Power System Stability and Control, McGraw-Hill (1994). [7] F. Milano et al., Foundations and challenges of low-inertia systems, PSCC (2018). [8] P. Tielens and D. Van Hertem, The relevance of inertia in power systems, Renew. Sustain. Energy Rev. 55, 999 (2016). [9] Best practices for large load interconnections: data centers, arXiv:2601.12686 (2025). [10] DMTF, Redfish standard.</a:t>
            </a:r>
          </a:p>
        </p:txBody>
      </p:sp>
      <p:pic>
        <p:nvPicPr>
          <p:cNvPr id="83" name="FCSI 2026 logo" descr="fcsi_2026_banner_from_paper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0461163" y="31097590"/>
            <a:ext cx="2972837" cy="136360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Times New Roman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imes New Roman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1145</Words>
  <Application>Microsoft Macintosh PowerPoint</Application>
  <PresentationFormat>Custom</PresentationFormat>
  <Paragraphs>96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Cambria</vt:lpstr>
      <vt:lpstr>Cambria Math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Lee, Daniel</cp:lastModifiedBy>
  <cp:revision>120</cp:revision>
  <dcterms:created xsi:type="dcterms:W3CDTF">2013-01-27T09:14:16Z</dcterms:created>
  <dcterms:modified xsi:type="dcterms:W3CDTF">2026-10-14T01:07:03Z</dcterms:modified>
  <cp:category/>
</cp:coreProperties>
</file>